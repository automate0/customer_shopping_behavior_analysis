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7" r:id="rId6"/>
    <p:sldId id="260" r:id="rId7"/>
    <p:sldId id="261" r:id="rId8"/>
    <p:sldId id="268" r:id="rId9"/>
    <p:sldId id="263" r:id="rId10"/>
    <p:sldId id="264" r:id="rId11"/>
    <p:sldId id="265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2" d="100"/>
          <a:sy n="62" d="100"/>
        </p:scale>
        <p:origin x="828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0A2999-BAC7-45E6-B7A1-BBC7A82A0BB2}" type="datetimeFigureOut">
              <a:rPr lang="en-IN" smtClean="0"/>
              <a:t>15-12-2025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0B1C68-D898-40EC-91E1-3FCCC59F57D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73539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0B1C68-D898-40EC-91E1-3FCCC59F57DD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96499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402AB-DA8E-E94F-3C9A-85558B3F50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E6413D-25BF-15FA-7140-A390525B88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5BA99D-D9A3-312C-D00C-36231F6C20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CDAE4-10A5-41BE-B950-49234C6DA644}" type="datetimeFigureOut">
              <a:rPr lang="en-IN" smtClean="0"/>
              <a:t>15-12-2025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01B8A2-8C29-5549-9D4F-BD92DBBB8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070FB8-4BE4-D38C-9308-13D01C988C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360E7-B517-45E1-B062-B26283070F8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667517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A857B-60C7-22F0-F510-315C6722B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28ADDA-5610-693A-DF6F-C1496B8E64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726650-F933-6E6D-EF17-710A9A493A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CDAE4-10A5-41BE-B950-49234C6DA644}" type="datetimeFigureOut">
              <a:rPr lang="en-IN" smtClean="0"/>
              <a:t>15-12-2025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CAA13B-646E-F821-7436-92859C57A0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4E0CB4-8464-08B7-3783-BB84A3F7A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360E7-B517-45E1-B062-B26283070F8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308709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92FB8-50FD-A079-4819-551E9BBEEE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70FCA5-E6EA-DD2B-DF25-0A454C2EE1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070E23-5BC2-45A1-7698-D7DA4AEB37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CDAE4-10A5-41BE-B950-49234C6DA644}" type="datetimeFigureOut">
              <a:rPr lang="en-IN" smtClean="0"/>
              <a:t>15-12-2025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12D0EF-90A3-E9BC-EE62-F7E022213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74019A-5206-A4A5-CE1C-0A84F1E6D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360E7-B517-45E1-B062-B26283070F8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374431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9C313-2BE0-A9F4-D8AC-613B397C9A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D13563-29D0-0750-BAC2-BA6D3CE9E4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C0FE03-EFE3-E7BF-7E52-EF70E5229B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FED3CF-59BC-83E8-A0CE-ADD2397F99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CDAE4-10A5-41BE-B950-49234C6DA644}" type="datetimeFigureOut">
              <a:rPr lang="en-IN" smtClean="0"/>
              <a:t>15-12-2025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E6094D-8689-047C-EB3D-58584A9BD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AD1EA8-0697-AE07-E1E2-A6F4FA01D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360E7-B517-45E1-B062-B26283070F8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9713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42B76-6284-11AF-F37E-C3FF45A091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E7E87E-7F05-1429-7FCD-F50FE5F066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4A652A-1E26-3AE5-79F1-B58FA545B9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0DDAB1-890F-9B91-9230-5261076520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B5F0521-81FC-8226-8014-7157B2A3F61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A198AF-85FC-CA7E-09F7-552A83AE1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CDAE4-10A5-41BE-B950-49234C6DA644}" type="datetimeFigureOut">
              <a:rPr lang="en-IN" smtClean="0"/>
              <a:t>15-12-2025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299DA8D-8E70-6A52-513A-1BC9264D7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05096FB-6139-870F-9341-F9F99E5DFA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360E7-B517-45E1-B062-B26283070F8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68943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CA0C6-FFDC-4947-E585-B3A8879CC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9061A4-0D03-A78E-AC6E-2D24BE474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CDAE4-10A5-41BE-B950-49234C6DA644}" type="datetimeFigureOut">
              <a:rPr lang="en-IN" smtClean="0"/>
              <a:t>15-12-2025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7FB291-F599-DC63-676A-8A49284488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EADFC6-C574-5616-B473-965E48150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360E7-B517-45E1-B062-B26283070F8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42172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AD0F1C4-89EB-D7C8-DDD0-EBE61A061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CDAE4-10A5-41BE-B950-49234C6DA644}" type="datetimeFigureOut">
              <a:rPr lang="en-IN" smtClean="0"/>
              <a:t>15-12-2025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1D9E61-7C5A-8452-DC32-58469D7731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9900F8-0B39-D10B-CC2F-DA65B08AA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360E7-B517-45E1-B062-B26283070F8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65013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706BC-8300-2CB0-8C0B-5CAD1763C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7339E3-13FB-7FB8-7672-C42EA94F3D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7D49FD-FF37-8957-3334-3D561A338C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E680B7-3AE7-D002-F5FF-2D8B0A6E78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CDAE4-10A5-41BE-B950-49234C6DA644}" type="datetimeFigureOut">
              <a:rPr lang="en-IN" smtClean="0"/>
              <a:t>15-12-2025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C38266-33F3-1B1C-8DF3-8896029AC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59BF52-8FE0-BB72-A186-81A73A415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360E7-B517-45E1-B062-B26283070F8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707520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A5E83E-29FF-A8F4-A2F5-9BB1C6D4D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30D1880-DEAB-867C-BA74-3F7833736E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F09536-3592-234B-EC02-3A2071C816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451920-4B22-3299-BA26-E3CCCF4EEC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CDAE4-10A5-41BE-B950-49234C6DA644}" type="datetimeFigureOut">
              <a:rPr lang="en-IN" smtClean="0"/>
              <a:t>15-12-2025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32F0C7-043E-2071-91B0-125C616185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466C27-C2CA-9953-0B5D-A0D2303F1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360E7-B517-45E1-B062-B26283070F8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061153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5DA82B-527F-6887-36B3-C5A6CE69F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76683B-0AB3-0882-AC4F-706C7DCD80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54D1D9-5131-54B1-8A1D-81E6E18A3B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CDAE4-10A5-41BE-B950-49234C6DA644}" type="datetimeFigureOut">
              <a:rPr lang="en-IN" smtClean="0"/>
              <a:t>15-12-2025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6B9154-86B4-3B37-ADE8-9ED550DBF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C98478-011B-D288-55DD-ABD678D1F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360E7-B517-45E1-B062-B26283070F8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0925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1E54165-E01F-0587-27E0-2FBD2546F2E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0FCD42-E56D-704C-C74B-279BB26B05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BF1A82-BEB3-1861-F224-80EA6D5F1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CDAE4-10A5-41BE-B950-49234C6DA644}" type="datetimeFigureOut">
              <a:rPr lang="en-IN" smtClean="0"/>
              <a:t>15-12-2025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7C6259-2192-2D25-CEE6-EE6096C08D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F050A-9957-116D-8F22-1D4C4E971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360E7-B517-45E1-B062-B26283070F8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08923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C6FE8D-FDF0-2220-A1E4-9502E3AC3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9894E0-28AC-AF7B-341A-E78B1B6813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73F23E-B697-3DC3-763B-218CFA965B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0CDAE4-10A5-41BE-B950-49234C6DA644}" type="datetimeFigureOut">
              <a:rPr lang="en-IN" smtClean="0"/>
              <a:t>15-12-2025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824D84-F430-65C1-AAB7-83ECEF9627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E73922-7E87-743E-8A78-75AD3F0617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0360E7-B517-45E1-B062-B26283070F8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350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utomate0/Customer_shopping_behavior_Analysis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91633-08E6-E1D8-358B-7E264107741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Adan Playil </a:t>
            </a:r>
            <a:br>
              <a:rPr lang="en-US" dirty="0"/>
            </a:br>
            <a:r>
              <a:rPr lang="en-US" sz="2400" dirty="0"/>
              <a:t>Data Analyst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400B59-51D9-A56B-681B-C89C8AFD4CF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 Turning Data into Insights 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079553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5C3C5A-5AEF-8D1E-0AD9-4A4C6A97C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A32253-483E-793D-CCB2-12BE9B70FA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M.Sc. Cloud Computing – Newcastle University</a:t>
            </a:r>
          </a:p>
          <a:p>
            <a:pPr lvl="1"/>
            <a:r>
              <a:rPr lang="en-IN" dirty="0"/>
              <a:t>(Thesis: Quantum-Enhanced Secure Communication via One-Time Pad &amp; Key Distribution – Distinction)</a:t>
            </a:r>
          </a:p>
          <a:p>
            <a:r>
              <a:rPr lang="en-IN" dirty="0" err="1"/>
              <a:t>B.Tech</a:t>
            </a:r>
            <a:r>
              <a:rPr lang="en-IN" dirty="0"/>
              <a:t> Cloud Technology &amp; Information Security – Ajeenkya D.Y. Patil University </a:t>
            </a:r>
          </a:p>
          <a:p>
            <a:pPr lvl="1"/>
            <a:r>
              <a:rPr lang="en-IN" dirty="0"/>
              <a:t>GPA: 8.7/10</a:t>
            </a:r>
          </a:p>
        </p:txBody>
      </p:sp>
    </p:spTree>
    <p:extLst>
      <p:ext uri="{BB962C8B-B14F-4D97-AF65-F5344CB8AC3E}">
        <p14:creationId xmlns:p14="http://schemas.microsoft.com/office/powerpoint/2010/main" val="8877028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418B2A-F0BE-A222-B0E6-2E8243553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Professional Journey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2512D8-0912-79D3-7377-A4A455DB8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42303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US" sz="8000" b="1" dirty="0"/>
              <a:t>Data Bootcamp – Just IT Ltd, London</a:t>
            </a:r>
            <a:endParaRPr lang="en-US" sz="8000" dirty="0"/>
          </a:p>
          <a:p>
            <a:r>
              <a:rPr lang="en-US" sz="8000" dirty="0"/>
              <a:t>Intensive training in data analysis, SQL, Power BI, and real-world projects</a:t>
            </a:r>
          </a:p>
          <a:p>
            <a:r>
              <a:rPr lang="en-US" sz="8000" dirty="0"/>
              <a:t>Built a strong foundation for transitioning into data-focused roles</a:t>
            </a:r>
          </a:p>
          <a:p>
            <a:pPr marL="0" indent="0">
              <a:buNone/>
            </a:pPr>
            <a:r>
              <a:rPr lang="en-US" sz="8000" b="1" dirty="0"/>
              <a:t>2025 | Education Support &amp; Media</a:t>
            </a:r>
            <a:br>
              <a:rPr lang="en-US" sz="8000" dirty="0"/>
            </a:br>
            <a:r>
              <a:rPr lang="en-US" sz="8000" b="1" dirty="0"/>
              <a:t>Teaching Assistant – Collingwood Media &amp; Arts, Newcastle, UK</a:t>
            </a:r>
            <a:endParaRPr lang="en-US" sz="8000" dirty="0"/>
          </a:p>
          <a:p>
            <a:r>
              <a:rPr lang="en-US" sz="8000" dirty="0"/>
              <a:t>Supported learners in creative and technical subjects</a:t>
            </a:r>
          </a:p>
          <a:p>
            <a:r>
              <a:rPr lang="en-US" sz="8000" dirty="0"/>
              <a:t>Strengthened communication, </a:t>
            </a:r>
            <a:r>
              <a:rPr lang="en-US" sz="8000" dirty="0" err="1"/>
              <a:t>organisation</a:t>
            </a:r>
            <a:r>
              <a:rPr lang="en-US" sz="8000" dirty="0"/>
              <a:t>, and problem-solving skills</a:t>
            </a:r>
          </a:p>
          <a:p>
            <a:pPr marL="0" indent="0">
              <a:buNone/>
            </a:pPr>
            <a:r>
              <a:rPr lang="en-US" sz="8000" b="1" dirty="0"/>
              <a:t>2024 | Academic Support Role</a:t>
            </a:r>
            <a:br>
              <a:rPr lang="en-US" sz="8000" dirty="0"/>
            </a:br>
            <a:r>
              <a:rPr lang="en-US" sz="8000" b="1" dirty="0"/>
              <a:t>Teaching Assistant – Teaching Personnel, Newcastle, UK</a:t>
            </a:r>
            <a:endParaRPr lang="en-US" sz="8000" dirty="0"/>
          </a:p>
          <a:p>
            <a:r>
              <a:rPr lang="en-US" sz="8000" dirty="0"/>
              <a:t>Assisted educators and students in structured learning environments</a:t>
            </a:r>
          </a:p>
          <a:p>
            <a:r>
              <a:rPr lang="en-US" sz="8000" dirty="0"/>
              <a:t>Developed adaptability, teamwork, and stakeholder communication</a:t>
            </a:r>
          </a:p>
          <a:p>
            <a:pPr marL="0" indent="0">
              <a:buNone/>
            </a:pPr>
            <a:r>
              <a:rPr lang="en-US" sz="8000" b="1" dirty="0"/>
              <a:t>2023 | Cloud &amp; Infrastructure Exposure</a:t>
            </a:r>
            <a:br>
              <a:rPr lang="en-US" sz="8000" dirty="0"/>
            </a:br>
            <a:r>
              <a:rPr lang="en-US" sz="8000" b="1" dirty="0"/>
              <a:t>Cloud Engineer (Option 2) – Emanate Agency, Pune, India</a:t>
            </a:r>
            <a:endParaRPr lang="en-US" sz="8000" dirty="0"/>
          </a:p>
          <a:p>
            <a:r>
              <a:rPr lang="en-US" sz="8000" dirty="0"/>
              <a:t>Gained hands-on exposure to cloud concepts and infrastructure</a:t>
            </a:r>
          </a:p>
          <a:p>
            <a:r>
              <a:rPr lang="en-US" sz="8000" dirty="0"/>
              <a:t>Built technical foundations in cloud environments and system operations</a:t>
            </a:r>
          </a:p>
          <a:p>
            <a:pPr marL="0" indent="0">
              <a:buNone/>
            </a:pPr>
            <a:endParaRPr lang="en-US" i="1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370900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9DECC-53CA-1927-47BE-757DC0823E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US" dirty="0"/>
              <a:t>What I Can Offer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D0E87F-3231-8C83-AA7F-B6455AC3AB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63721"/>
            <a:ext cx="10515600" cy="4913242"/>
          </a:xfrm>
        </p:spPr>
        <p:txBody>
          <a:bodyPr>
            <a:normAutofit/>
          </a:bodyPr>
          <a:lstStyle/>
          <a:p>
            <a:r>
              <a:rPr lang="en-IN" dirty="0"/>
              <a:t>Analytical problem-solving &amp; insight generation</a:t>
            </a:r>
          </a:p>
          <a:p>
            <a:r>
              <a:rPr lang="en-IN" dirty="0"/>
              <a:t>Data storytelling for stakeholders</a:t>
            </a:r>
          </a:p>
          <a:p>
            <a:r>
              <a:rPr lang="en-IN" dirty="0"/>
              <a:t>Effective communication &amp; collaboration</a:t>
            </a:r>
          </a:p>
          <a:p>
            <a:r>
              <a:rPr lang="en-IN" dirty="0"/>
              <a:t>Adaptability to new technologies and tools</a:t>
            </a:r>
          </a:p>
          <a:p>
            <a:pPr marL="0" indent="0">
              <a:buNone/>
            </a:pPr>
            <a:endParaRPr lang="en-IN" dirty="0"/>
          </a:p>
        </p:txBody>
      </p:sp>
      <p:pic>
        <p:nvPicPr>
          <p:cNvPr id="2050" name="Picture 2" descr="Bag Gold Royalty-Free Images ...">
            <a:extLst>
              <a:ext uri="{FF2B5EF4-FFF2-40B4-BE49-F238E27FC236}">
                <a16:creationId xmlns:a16="http://schemas.microsoft.com/office/drawing/2014/main" id="{934977EA-C3A6-F580-F836-B5A7474805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72625" y="4433888"/>
            <a:ext cx="2619375" cy="1743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323020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C796BE-A4BE-54AE-F604-8A5808809B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Technical skills</a:t>
            </a:r>
            <a:endParaRPr lang="en-IN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40F6E03-87C0-6745-A198-011001BE5D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2544192"/>
              </p:ext>
            </p:extLst>
          </p:nvPr>
        </p:nvGraphicFramePr>
        <p:xfrm>
          <a:off x="846766" y="1939201"/>
          <a:ext cx="1625600" cy="36589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087641199"/>
                    </a:ext>
                  </a:extLst>
                </a:gridCol>
              </a:tblGrid>
              <a:tr h="7092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Data Analysis &amp; Visualization</a:t>
                      </a:r>
                    </a:p>
                  </a:txBody>
                  <a:tcPr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9638795"/>
                  </a:ext>
                </a:extLst>
              </a:tr>
              <a:tr h="7092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SQL</a:t>
                      </a:r>
                    </a:p>
                    <a:p>
                      <a:endParaRPr lang="en-IN" dirty="0"/>
                    </a:p>
                  </a:txBody>
                  <a:tcP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053826"/>
                  </a:ext>
                </a:extLst>
              </a:tr>
              <a:tr h="410923">
                <a:tc>
                  <a:txBody>
                    <a:bodyPr/>
                    <a:lstStyle/>
                    <a:p>
                      <a:r>
                        <a:rPr lang="en-IN" dirty="0"/>
                        <a:t>Power BI 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4422258"/>
                  </a:ext>
                </a:extLst>
              </a:tr>
              <a:tr h="410923">
                <a:tc>
                  <a:txBody>
                    <a:bodyPr/>
                    <a:lstStyle/>
                    <a:p>
                      <a:r>
                        <a:rPr lang="en-IN" dirty="0"/>
                        <a:t>Tableau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6709029"/>
                  </a:ext>
                </a:extLst>
              </a:tr>
              <a:tr h="7092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Excel</a:t>
                      </a:r>
                    </a:p>
                    <a:p>
                      <a:endParaRPr lang="en-IN" dirty="0"/>
                    </a:p>
                  </a:txBody>
                  <a:tcP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265790"/>
                  </a:ext>
                </a:extLst>
              </a:tr>
              <a:tr h="7092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R Studio</a:t>
                      </a:r>
                    </a:p>
                    <a:p>
                      <a:endParaRPr lang="en-IN" dirty="0"/>
                    </a:p>
                  </a:txBody>
                  <a:tcP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903138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C3A25C3-DB16-A088-0700-7F229ECB08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4741385"/>
              </p:ext>
            </p:extLst>
          </p:nvPr>
        </p:nvGraphicFramePr>
        <p:xfrm>
          <a:off x="2599793" y="1909687"/>
          <a:ext cx="1625600" cy="357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69038971"/>
                    </a:ext>
                  </a:extLst>
                </a:gridCol>
              </a:tblGrid>
              <a:tr h="715264">
                <a:tc>
                  <a:txBody>
                    <a:bodyPr/>
                    <a:lstStyle/>
                    <a:p>
                      <a:r>
                        <a:rPr lang="en-IN" dirty="0"/>
                        <a:t>Programming &amp; Scripting</a:t>
                      </a: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347017"/>
                  </a:ext>
                </a:extLst>
              </a:tr>
              <a:tr h="715264">
                <a:tc>
                  <a:txBody>
                    <a:bodyPr/>
                    <a:lstStyle/>
                    <a:p>
                      <a:r>
                        <a:rPr lang="en-IN" dirty="0"/>
                        <a:t>Python</a:t>
                      </a: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0823889"/>
                  </a:ext>
                </a:extLst>
              </a:tr>
              <a:tr h="715264">
                <a:tc>
                  <a:txBody>
                    <a:bodyPr/>
                    <a:lstStyle/>
                    <a:p>
                      <a:r>
                        <a:rPr lang="en-IN" dirty="0"/>
                        <a:t>R</a:t>
                      </a: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1114318"/>
                  </a:ext>
                </a:extLst>
              </a:tr>
              <a:tr h="715264">
                <a:tc>
                  <a:txBody>
                    <a:bodyPr/>
                    <a:lstStyle/>
                    <a:p>
                      <a:r>
                        <a:rPr lang="en-IN" dirty="0"/>
                        <a:t>Java</a:t>
                      </a: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307462"/>
                  </a:ext>
                </a:extLst>
              </a:tr>
              <a:tr h="715264">
                <a:tc>
                  <a:txBody>
                    <a:bodyPr/>
                    <a:lstStyle/>
                    <a:p>
                      <a:r>
                        <a:rPr lang="en-IN" dirty="0"/>
                        <a:t>JavaScript</a:t>
                      </a: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175994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EAA46EA-AB0F-634B-A80F-31E3124825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8514910"/>
              </p:ext>
            </p:extLst>
          </p:nvPr>
        </p:nvGraphicFramePr>
        <p:xfrm>
          <a:off x="8373449" y="1909686"/>
          <a:ext cx="1859622" cy="43575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622">
                  <a:extLst>
                    <a:ext uri="{9D8B030D-6E8A-4147-A177-3AD203B41FA5}">
                      <a16:colId xmlns:a16="http://schemas.microsoft.com/office/drawing/2014/main" val="503572888"/>
                    </a:ext>
                  </a:extLst>
                </a:gridCol>
              </a:tblGrid>
              <a:tr h="726258">
                <a:tc>
                  <a:txBody>
                    <a:bodyPr/>
                    <a:lstStyle/>
                    <a:p>
                      <a:r>
                        <a:rPr lang="en-IN" dirty="0"/>
                        <a:t>Cloud &amp; DevOps</a:t>
                      </a:r>
                    </a:p>
                  </a:txBody>
                  <a:tcPr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668685"/>
                  </a:ext>
                </a:extLst>
              </a:tr>
              <a:tr h="726258">
                <a:tc>
                  <a:txBody>
                    <a:bodyPr/>
                    <a:lstStyle/>
                    <a:p>
                      <a:r>
                        <a:rPr lang="en-IN" dirty="0"/>
                        <a:t>AWS</a:t>
                      </a:r>
                    </a:p>
                  </a:txBody>
                  <a:tcP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6043589"/>
                  </a:ext>
                </a:extLst>
              </a:tr>
              <a:tr h="726258">
                <a:tc>
                  <a:txBody>
                    <a:bodyPr/>
                    <a:lstStyle/>
                    <a:p>
                      <a:r>
                        <a:rPr lang="en-IN" dirty="0"/>
                        <a:t>Azure</a:t>
                      </a:r>
                    </a:p>
                  </a:txBody>
                  <a:tcP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8991337"/>
                  </a:ext>
                </a:extLst>
              </a:tr>
              <a:tr h="726258">
                <a:tc>
                  <a:txBody>
                    <a:bodyPr/>
                    <a:lstStyle/>
                    <a:p>
                      <a:r>
                        <a:rPr lang="en-IN" dirty="0"/>
                        <a:t>GCP</a:t>
                      </a:r>
                    </a:p>
                  </a:txBody>
                  <a:tcP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9847698"/>
                  </a:ext>
                </a:extLst>
              </a:tr>
              <a:tr h="726258">
                <a:tc>
                  <a:txBody>
                    <a:bodyPr/>
                    <a:lstStyle/>
                    <a:p>
                      <a:r>
                        <a:rPr lang="en-IN" dirty="0"/>
                        <a:t>Kubernetes</a:t>
                      </a:r>
                    </a:p>
                  </a:txBody>
                  <a:tcP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634191"/>
                  </a:ext>
                </a:extLst>
              </a:tr>
              <a:tr h="726258">
                <a:tc>
                  <a:txBody>
                    <a:bodyPr/>
                    <a:lstStyle/>
                    <a:p>
                      <a:r>
                        <a:rPr lang="en-IN" dirty="0"/>
                        <a:t>CI/CD pipelines</a:t>
                      </a:r>
                    </a:p>
                  </a:txBody>
                  <a:tcP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547098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BE57D89-CAB5-3B9C-2BB8-71F3064F11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7346175"/>
              </p:ext>
            </p:extLst>
          </p:nvPr>
        </p:nvGraphicFramePr>
        <p:xfrm>
          <a:off x="4361386" y="1909687"/>
          <a:ext cx="1880455" cy="34636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455">
                  <a:extLst>
                    <a:ext uri="{9D8B030D-6E8A-4147-A177-3AD203B41FA5}">
                      <a16:colId xmlns:a16="http://schemas.microsoft.com/office/drawing/2014/main" val="1439204909"/>
                    </a:ext>
                  </a:extLst>
                </a:gridCol>
              </a:tblGrid>
              <a:tr h="715672">
                <a:tc>
                  <a:txBody>
                    <a:bodyPr/>
                    <a:lstStyle/>
                    <a:p>
                      <a:r>
                        <a:rPr lang="en-IN" dirty="0"/>
                        <a:t>Data Governance &amp; Architecture</a:t>
                      </a: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7179895"/>
                  </a:ext>
                </a:extLst>
              </a:tr>
              <a:tr h="658341">
                <a:tc>
                  <a:txBody>
                    <a:bodyPr/>
                    <a:lstStyle/>
                    <a:p>
                      <a:r>
                        <a:rPr lang="en-IN" dirty="0"/>
                        <a:t>Data cleaning</a:t>
                      </a:r>
                    </a:p>
                  </a:txBody>
                  <a:tcP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1350885"/>
                  </a:ext>
                </a:extLst>
              </a:tr>
              <a:tr h="715672">
                <a:tc>
                  <a:txBody>
                    <a:bodyPr/>
                    <a:lstStyle/>
                    <a:p>
                      <a:r>
                        <a:rPr lang="en-US" dirty="0"/>
                        <a:t>Data </a:t>
                      </a:r>
                      <a:r>
                        <a:rPr lang="en-IN" dirty="0"/>
                        <a:t>transformation</a:t>
                      </a:r>
                    </a:p>
                  </a:txBody>
                  <a:tcP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9201102"/>
                  </a:ext>
                </a:extLst>
              </a:tr>
              <a:tr h="715672">
                <a:tc>
                  <a:txBody>
                    <a:bodyPr/>
                    <a:lstStyle/>
                    <a:p>
                      <a:r>
                        <a:rPr lang="en-US" dirty="0"/>
                        <a:t>Data </a:t>
                      </a:r>
                      <a:r>
                        <a:rPr lang="en-IN" dirty="0"/>
                        <a:t>summarization</a:t>
                      </a:r>
                    </a:p>
                  </a:txBody>
                  <a:tcP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2297976"/>
                  </a:ext>
                </a:extLst>
              </a:tr>
              <a:tr h="658341">
                <a:tc>
                  <a:txBody>
                    <a:bodyPr/>
                    <a:lstStyle/>
                    <a:p>
                      <a:r>
                        <a:rPr lang="en-IN" dirty="0"/>
                        <a:t>Storytelling</a:t>
                      </a:r>
                    </a:p>
                  </a:txBody>
                  <a:tcP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5251733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590AAD7B-938E-2BE1-A3DF-1EF2C5A96D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1787650"/>
              </p:ext>
            </p:extLst>
          </p:nvPr>
        </p:nvGraphicFramePr>
        <p:xfrm>
          <a:off x="6377834" y="1909688"/>
          <a:ext cx="1859622" cy="35763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622">
                  <a:extLst>
                    <a:ext uri="{9D8B030D-6E8A-4147-A177-3AD203B41FA5}">
                      <a16:colId xmlns:a16="http://schemas.microsoft.com/office/drawing/2014/main" val="3896526062"/>
                    </a:ext>
                  </a:extLst>
                </a:gridCol>
              </a:tblGrid>
              <a:tr h="721252">
                <a:tc>
                  <a:txBody>
                    <a:bodyPr/>
                    <a:lstStyle/>
                    <a:p>
                      <a:r>
                        <a:rPr lang="en-IN" dirty="0"/>
                        <a:t>Automation Tools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7115718"/>
                  </a:ext>
                </a:extLst>
              </a:tr>
              <a:tr h="700825">
                <a:tc>
                  <a:txBody>
                    <a:bodyPr/>
                    <a:lstStyle/>
                    <a:p>
                      <a:r>
                        <a:rPr lang="en-IN" dirty="0"/>
                        <a:t>N8N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2123343"/>
                  </a:ext>
                </a:extLst>
              </a:tr>
              <a:tr h="700825">
                <a:tc>
                  <a:txBody>
                    <a:bodyPr/>
                    <a:lstStyle/>
                    <a:p>
                      <a:r>
                        <a:rPr lang="en-IN" dirty="0"/>
                        <a:t>Relevance AI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4610871"/>
                  </a:ext>
                </a:extLst>
              </a:tr>
              <a:tr h="700825">
                <a:tc>
                  <a:txBody>
                    <a:bodyPr/>
                    <a:lstStyle/>
                    <a:p>
                      <a:r>
                        <a:rPr lang="en-IN" dirty="0"/>
                        <a:t>Zapier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5564243"/>
                  </a:ext>
                </a:extLst>
              </a:tr>
              <a:tr h="75259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 err="1"/>
                        <a:t>VoiceFlow</a:t>
                      </a:r>
                      <a:endParaRPr lang="en-IN" dirty="0"/>
                    </a:p>
                    <a:p>
                      <a:endParaRPr lang="en-IN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03753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543025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3F0D3-D1C2-8385-AEA0-685ADA872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 Fact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9ABC76-14AE-1AAC-466A-EAA9493962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/>
              <a:t>I’m a jack of all trades—I love trying new experiences, exploring technologies, and learning continuously.</a:t>
            </a:r>
          </a:p>
          <a:p>
            <a:pPr marL="0" indent="0" algn="ctr">
              <a:buNone/>
            </a:pPr>
            <a:r>
              <a:rPr lang="en-US" dirty="0"/>
              <a:t>Outside of work, football keeps me disciplined, music sparks my creativity 🎧, and AI fuels my curiosity </a:t>
            </a:r>
            <a:r>
              <a:rPr lang="en-IN" dirty="0"/>
              <a:t>🧠</a:t>
            </a:r>
          </a:p>
        </p:txBody>
      </p:sp>
    </p:spTree>
    <p:extLst>
      <p:ext uri="{BB962C8B-B14F-4D97-AF65-F5344CB8AC3E}">
        <p14:creationId xmlns:p14="http://schemas.microsoft.com/office/powerpoint/2010/main" val="14388302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3FACC-1A5A-FC1C-D39C-426E8661A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Projects 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AB01D1-FD6F-6412-F77B-9E7F15908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0575"/>
            <a:ext cx="10515600" cy="4656388"/>
          </a:xfrm>
        </p:spPr>
        <p:txBody>
          <a:bodyPr/>
          <a:lstStyle/>
          <a:p>
            <a:pPr marL="0" indent="0">
              <a:buNone/>
            </a:pPr>
            <a:r>
              <a:rPr lang="en-IN" b="1" dirty="0"/>
              <a:t>Quantum Random Key Generator &amp; Distributor</a:t>
            </a:r>
          </a:p>
          <a:p>
            <a:r>
              <a:rPr lang="en-IN" dirty="0"/>
              <a:t>Developed a </a:t>
            </a:r>
            <a:r>
              <a:rPr lang="en-IN" b="1" dirty="0"/>
              <a:t>quantum-secure communication system</a:t>
            </a:r>
            <a:r>
              <a:rPr lang="en-IN" dirty="0"/>
              <a:t> using </a:t>
            </a:r>
            <a:r>
              <a:rPr lang="en-IN" b="1" dirty="0"/>
              <a:t>AWS </a:t>
            </a:r>
            <a:r>
              <a:rPr lang="en-IN" b="1" dirty="0" err="1"/>
              <a:t>Braket</a:t>
            </a:r>
            <a:r>
              <a:rPr lang="en-IN" dirty="0"/>
              <a:t> and </a:t>
            </a:r>
            <a:r>
              <a:rPr lang="en-IN" b="1" dirty="0"/>
              <a:t>ANUQRNG</a:t>
            </a:r>
            <a:r>
              <a:rPr lang="en-IN" dirty="0"/>
              <a:t>. Implemented </a:t>
            </a:r>
            <a:r>
              <a:rPr lang="en-IN" b="1" dirty="0"/>
              <a:t>One-Time Pad (OTP) encryption</a:t>
            </a:r>
            <a:r>
              <a:rPr lang="en-IN" dirty="0"/>
              <a:t> and </a:t>
            </a:r>
            <a:r>
              <a:rPr lang="en-IN" b="1" dirty="0"/>
              <a:t>BB84 quantum key distribution</a:t>
            </a:r>
            <a:r>
              <a:rPr lang="en-IN" dirty="0"/>
              <a:t> to achieve quantum-resistant security. Demonstrated </a:t>
            </a:r>
            <a:r>
              <a:rPr lang="en-IN" b="1" dirty="0"/>
              <a:t>true random key generation</a:t>
            </a:r>
            <a:r>
              <a:rPr lang="en-IN" dirty="0"/>
              <a:t>, secure encryption/decryption, and </a:t>
            </a:r>
            <a:r>
              <a:rPr lang="en-IN" b="1" dirty="0"/>
              <a:t>eavesdrop detection</a:t>
            </a:r>
            <a:r>
              <a:rPr lang="en-IN" dirty="0"/>
              <a:t>.</a:t>
            </a:r>
          </a:p>
          <a:p>
            <a:r>
              <a:rPr lang="en-IN" b="1" dirty="0"/>
              <a:t>Key Skills:</a:t>
            </a:r>
            <a:r>
              <a:rPr lang="en-IN" dirty="0"/>
              <a:t> Quantum Computing, AWS </a:t>
            </a:r>
            <a:r>
              <a:rPr lang="en-IN" dirty="0" err="1"/>
              <a:t>Braket</a:t>
            </a:r>
            <a:r>
              <a:rPr lang="en-IN" dirty="0"/>
              <a:t>, Cryptography, BB84 Protocol, Secure Communication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3C79796-7BDF-B787-6360-3D27CDB4C6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4787" y="4609191"/>
            <a:ext cx="2143125" cy="2143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93929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21FB86-97D0-2389-B6E9-0C321EC1CC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88369"/>
            <a:ext cx="10515600" cy="5907640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b="1" dirty="0"/>
              <a:t>G1OS – Cloud-Based Operating System</a:t>
            </a:r>
          </a:p>
          <a:p>
            <a:r>
              <a:rPr lang="en-US" dirty="0"/>
              <a:t>Built a </a:t>
            </a:r>
            <a:r>
              <a:rPr lang="en-US" b="1" dirty="0"/>
              <a:t>cloud-based operating system</a:t>
            </a:r>
            <a:r>
              <a:rPr lang="en-US" dirty="0"/>
              <a:t> with a </a:t>
            </a:r>
            <a:r>
              <a:rPr lang="en-US" b="1" dirty="0"/>
              <a:t>monolithic kernel and multiprocessing support</a:t>
            </a:r>
            <a:r>
              <a:rPr lang="en-US" dirty="0"/>
              <a:t> to improve performance, scalability, and security. Enabled remote access to desktop environments and files, supporting </a:t>
            </a:r>
            <a:r>
              <a:rPr lang="en-US" b="1" dirty="0"/>
              <a:t>collaboration and productivity</a:t>
            </a:r>
            <a:r>
              <a:rPr lang="en-US" dirty="0"/>
              <a:t>. Deployed and tested the system in a cloud environment.</a:t>
            </a:r>
          </a:p>
          <a:p>
            <a:r>
              <a:rPr lang="en-US" b="1" dirty="0"/>
              <a:t>Key Skills:</a:t>
            </a:r>
            <a:r>
              <a:rPr lang="en-US" dirty="0"/>
              <a:t> Operating System Development, Kernel Programming, Cloud Computing (AWS), Linux Administration, Performance Optimization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Blockchain Application for GDPR Compliance</a:t>
            </a:r>
          </a:p>
          <a:p>
            <a:r>
              <a:rPr lang="en-US" dirty="0"/>
              <a:t>Designed a </a:t>
            </a:r>
            <a:r>
              <a:rPr lang="en-US" b="1" dirty="0"/>
              <a:t>public blockchain network</a:t>
            </a:r>
            <a:r>
              <a:rPr lang="en-US" dirty="0"/>
              <a:t> using the </a:t>
            </a:r>
            <a:r>
              <a:rPr lang="en-US" b="1" dirty="0"/>
              <a:t>Ethereum Virtual Machine (EVM)</a:t>
            </a:r>
            <a:r>
              <a:rPr lang="en-US" dirty="0"/>
              <a:t>. Developed </a:t>
            </a:r>
            <a:r>
              <a:rPr lang="en-US" b="1" dirty="0"/>
              <a:t>smart contracts</a:t>
            </a:r>
            <a:r>
              <a:rPr lang="en-US" dirty="0"/>
              <a:t> to manage data usage consent, agreement processing, and activity logging, with a focus on GDPR compliance. This project strengthened understanding of blockchain architecture and decentralized applications.</a:t>
            </a:r>
          </a:p>
          <a:p>
            <a:r>
              <a:rPr lang="en-US" b="1" dirty="0"/>
              <a:t>Key Skills:</a:t>
            </a:r>
            <a:r>
              <a:rPr lang="en-US" dirty="0"/>
              <a:t> Blockchain Development, Smart Contracts, Ethereum VM, Data Governance, Security &amp; Compliance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7105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6EFB0F-3E54-8A8E-4B3A-F15A2CD7EA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Custromer_Shopping_Behavior_Analysis</a:t>
            </a:r>
            <a:r>
              <a:rPr lang="en-US" dirty="0"/>
              <a:t>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CC77D2-17C1-D413-338B-0FC602D520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Github</a:t>
            </a:r>
            <a:r>
              <a:rPr lang="en-US" dirty="0"/>
              <a:t>: </a:t>
            </a:r>
            <a:r>
              <a:rPr lang="en-US" dirty="0">
                <a:hlinkClick r:id="rId2"/>
              </a:rPr>
              <a:t>https://github.com/Automate0/Customer_shopping_behavior_Analysis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Conducted data analysis to understand </a:t>
            </a:r>
            <a:r>
              <a:rPr lang="en-US" b="1" dirty="0"/>
              <a:t>customer purchasing patterns and trends</a:t>
            </a:r>
            <a:r>
              <a:rPr lang="en-US" dirty="0"/>
              <a:t>. Explored transactional data to identify insights that support business decision-making and customer behavior understanding.</a:t>
            </a:r>
          </a:p>
          <a:p>
            <a:r>
              <a:rPr lang="en-US" b="1" dirty="0"/>
              <a:t>Key Skills:</a:t>
            </a:r>
            <a:r>
              <a:rPr lang="en-US" dirty="0"/>
              <a:t> Data Analysis, SQL, Data Visualization, Analytical Thinking, Business Insights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735201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BEF45A-2233-E14F-91BD-6036DD6F2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Way of Execution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E6CD07-B72A-6B90-E5C9-877243F56B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Import Data</a:t>
            </a:r>
          </a:p>
          <a:p>
            <a:pPr marL="0" indent="0">
              <a:buNone/>
            </a:pPr>
            <a:r>
              <a:rPr lang="en-US" dirty="0"/>
              <a:t>Data Modelling &amp; EDA in Python</a:t>
            </a:r>
          </a:p>
          <a:p>
            <a:pPr marL="0" indent="0">
              <a:buNone/>
            </a:pPr>
            <a:r>
              <a:rPr lang="en-US" dirty="0"/>
              <a:t>Data Analysis in SQL</a:t>
            </a:r>
          </a:p>
          <a:p>
            <a:pPr marL="0" indent="0">
              <a:buNone/>
            </a:pPr>
            <a:r>
              <a:rPr lang="en-US" dirty="0"/>
              <a:t>Store Data on Cloud</a:t>
            </a:r>
          </a:p>
          <a:p>
            <a:pPr marL="0" indent="0">
              <a:buNone/>
            </a:pPr>
            <a:r>
              <a:rPr lang="en-US" dirty="0"/>
              <a:t>Interactive Dashboard using </a:t>
            </a:r>
            <a:r>
              <a:rPr lang="en-US" dirty="0" err="1"/>
              <a:t>PowerBI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Project Report</a:t>
            </a:r>
          </a:p>
          <a:p>
            <a:pPr marL="0" indent="0">
              <a:buNone/>
            </a:pPr>
            <a:r>
              <a:rPr lang="en-US" dirty="0"/>
              <a:t>Power Point</a:t>
            </a:r>
          </a:p>
          <a:p>
            <a:pPr marL="0" indent="0">
              <a:buNone/>
            </a:pPr>
            <a:r>
              <a:rPr lang="en-US" dirty="0" err="1"/>
              <a:t>Github</a:t>
            </a:r>
            <a:r>
              <a:rPr lang="en-US" dirty="0"/>
              <a:t> Repository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117819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4C3F4C-217B-CCBD-E0F4-4FAF35A4CD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US" b="1" dirty="0"/>
              <a:t>Data tells a story</a:t>
            </a:r>
          </a:p>
          <a:p>
            <a:pPr marL="0" indent="0" algn="ctr">
              <a:buNone/>
            </a:pPr>
            <a:r>
              <a:rPr lang="en-US" dirty="0"/>
              <a:t>and I am passionate about being the translator turning numbers into insights, and insights into decisions. With a foundation in cloud, automation, and analytics, I am ready to help businesses scale smarter and faster. Let’s connect and explore how we can turn complex data into real-world impact together.</a:t>
            </a:r>
          </a:p>
          <a:p>
            <a:endParaRPr lang="en-US" dirty="0"/>
          </a:p>
          <a:p>
            <a:pPr marL="0" indent="0" algn="ctr">
              <a:buNone/>
            </a:pPr>
            <a:r>
              <a:rPr lang="en-IN" sz="2400" dirty="0" err="1"/>
              <a:t>linkedIn</a:t>
            </a:r>
            <a:r>
              <a:rPr lang="en-IN" sz="2400" dirty="0"/>
              <a:t>: https://www.linkedin.com/in/adan-playil08112001/</a:t>
            </a:r>
          </a:p>
          <a:p>
            <a:pPr marL="0" indent="0" algn="ctr">
              <a:buNone/>
            </a:pPr>
            <a:r>
              <a:rPr lang="en-IN" sz="2400" dirty="0" err="1"/>
              <a:t>Github</a:t>
            </a:r>
            <a:r>
              <a:rPr lang="en-IN" sz="2400" dirty="0"/>
              <a:t>: https://github.com/Automate0</a:t>
            </a:r>
          </a:p>
          <a:p>
            <a:pPr marL="0" indent="0" algn="ctr">
              <a:buNone/>
            </a:pPr>
            <a:r>
              <a:rPr lang="en-IN" sz="2400" dirty="0"/>
              <a:t>Email: adanplayil7@gmail.com</a:t>
            </a:r>
          </a:p>
        </p:txBody>
      </p:sp>
    </p:spTree>
    <p:extLst>
      <p:ext uri="{BB962C8B-B14F-4D97-AF65-F5344CB8AC3E}">
        <p14:creationId xmlns:p14="http://schemas.microsoft.com/office/powerpoint/2010/main" val="21449004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1307</TotalTime>
  <Words>694</Words>
  <Application>Microsoft Office PowerPoint</Application>
  <PresentationFormat>Widescreen</PresentationFormat>
  <Paragraphs>89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Theme</vt:lpstr>
      <vt:lpstr>Adan Playil  Data Analyst</vt:lpstr>
      <vt:lpstr>Background</vt:lpstr>
      <vt:lpstr>Professional Journey</vt:lpstr>
      <vt:lpstr>What I Can Offer</vt:lpstr>
      <vt:lpstr>Technical skills</vt:lpstr>
      <vt:lpstr>Fun Fact</vt:lpstr>
      <vt:lpstr>Projects  </vt:lpstr>
      <vt:lpstr>PowerPoint Presentation</vt:lpstr>
      <vt:lpstr>Custromer_Shopping_Behavior_Analysis </vt:lpstr>
      <vt:lpstr>Way of Execution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adan playil</dc:creator>
  <cp:lastModifiedBy>adan playil</cp:lastModifiedBy>
  <cp:revision>1</cp:revision>
  <dcterms:created xsi:type="dcterms:W3CDTF">2025-12-15T15:11:33Z</dcterms:created>
  <dcterms:modified xsi:type="dcterms:W3CDTF">2025-12-16T12:58:34Z</dcterms:modified>
</cp:coreProperties>
</file>