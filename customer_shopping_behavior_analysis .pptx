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8" r:id="rId9"/>
    <p:sldId id="263" r:id="rId10"/>
    <p:sldId id="270" r:id="rId11"/>
    <p:sldId id="264" r:id="rId12"/>
    <p:sldId id="271" r:id="rId13"/>
    <p:sldId id="265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0A2999-BAC7-45E6-B7A1-BBC7A82A0BB2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0B1C68-D898-40EC-91E1-3FCCC59F57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539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B1C68-D898-40EC-91E1-3FCCC59F57D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49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402AB-DA8E-E94F-3C9A-85558B3F50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E6413D-25BF-15FA-7140-A390525B88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BA99D-D9A3-312C-D00C-36231F6C2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DAE4-10A5-41BE-B950-49234C6DA644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1B8A2-8C29-5549-9D4F-BD92DBBB8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70FB8-4BE4-D38C-9308-13D01C988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60E7-B517-45E1-B062-B26283070F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751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A857B-60C7-22F0-F510-315C6722B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8ADDA-5610-693A-DF6F-C1496B8E6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26650-F933-6E6D-EF17-710A9A493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DAE4-10A5-41BE-B950-49234C6DA644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AA13B-646E-F821-7436-92859C57A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E0CB4-8464-08B7-3783-BB84A3F7A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60E7-B517-45E1-B062-B26283070F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0870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92FB8-50FD-A079-4819-551E9BBEE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0FCA5-E6EA-DD2B-DF25-0A454C2EE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70E23-5BC2-45A1-7698-D7DA4AEB3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DAE4-10A5-41BE-B950-49234C6DA644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2D0EF-90A3-E9BC-EE62-F7E022213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4019A-5206-A4A5-CE1C-0A84F1E6D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60E7-B517-45E1-B062-B26283070F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7443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9C313-2BE0-A9F4-D8AC-613B397C9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13563-29D0-0750-BAC2-BA6D3CE9E4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C0FE03-EFE3-E7BF-7E52-EF70E5229B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FED3CF-59BC-83E8-A0CE-ADD2397F9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DAE4-10A5-41BE-B950-49234C6DA644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6094D-8689-047C-EB3D-58584A9BD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AD1EA8-0697-AE07-E1E2-A6F4FA01D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60E7-B517-45E1-B062-B26283070F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71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42B76-6284-11AF-F37E-C3FF45A09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7E87E-7F05-1429-7FCD-F50FE5F06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4A652A-1E26-3AE5-79F1-B58FA545B9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0DDAB1-890F-9B91-9230-5261076520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5F0521-81FC-8226-8014-7157B2A3F6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A198AF-85FC-CA7E-09F7-552A83AE1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DAE4-10A5-41BE-B950-49234C6DA644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99DA8D-8E70-6A52-513A-1BC9264D7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5096FB-6139-870F-9341-F9F99E5DF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60E7-B517-45E1-B062-B26283070F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943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CA0C6-FFDC-4947-E585-B3A8879CC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9061A4-0D03-A78E-AC6E-2D24BE474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DAE4-10A5-41BE-B950-49234C6DA644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7FB291-F599-DC63-676A-8A4928448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EADFC6-C574-5616-B473-965E48150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60E7-B517-45E1-B062-B26283070F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2172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D0F1C4-89EB-D7C8-DDD0-EBE61A061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DAE4-10A5-41BE-B950-49234C6DA644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1D9E61-7C5A-8452-DC32-58469D773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9900F8-0B39-D10B-CC2F-DA65B08AA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60E7-B517-45E1-B062-B26283070F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01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706BC-8300-2CB0-8C0B-5CAD1763C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339E3-13FB-7FB8-7672-C42EA94F3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7D49FD-FF37-8957-3334-3D561A338C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E680B7-3AE7-D002-F5FF-2D8B0A6E7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DAE4-10A5-41BE-B950-49234C6DA644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C38266-33F3-1B1C-8DF3-8896029AC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59BF52-8FE0-BB72-A186-81A73A41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60E7-B517-45E1-B062-B26283070F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752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5E83E-29FF-A8F4-A2F5-9BB1C6D4D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0D1880-DEAB-867C-BA74-3F7833736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09536-3592-234B-EC02-3A2071C81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451920-4B22-3299-BA26-E3CCCF4EE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DAE4-10A5-41BE-B950-49234C6DA644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2F0C7-043E-2071-91B0-125C61618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66C27-C2CA-9953-0B5D-A0D2303F1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60E7-B517-45E1-B062-B26283070F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115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DA82B-527F-6887-36B3-C5A6CE69F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76683B-0AB3-0882-AC4F-706C7DCD80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4D1D9-5131-54B1-8A1D-81E6E18A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DAE4-10A5-41BE-B950-49234C6DA644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B9154-86B4-3B37-ADE8-9ED550DBF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98478-011B-D288-55DD-ABD678D1F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60E7-B517-45E1-B062-B26283070F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25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E54165-E01F-0587-27E0-2FBD2546F2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0FCD42-E56D-704C-C74B-279BB26B05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F1A82-BEB3-1861-F224-80EA6D5F1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DAE4-10A5-41BE-B950-49234C6DA644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C6259-2192-2D25-CEE6-EE6096C08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F050A-9957-116D-8F22-1D4C4E971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60E7-B517-45E1-B062-B26283070F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892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C6FE8D-FDF0-2220-A1E4-9502E3AC3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9894E0-28AC-AF7B-341A-E78B1B681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3F23E-B697-3DC3-763B-218CFA965B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0CDAE4-10A5-41BE-B950-49234C6DA644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24D84-F430-65C1-AAB7-83ECEF9627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73922-7E87-743E-8A78-75AD3F0617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0360E7-B517-45E1-B062-B26283070F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350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github.com/Automate0/Customer_shopping_behavior_Analysi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1633-08E6-E1D8-358B-7E26410774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Adan Playil </a:t>
            </a:r>
            <a:br>
              <a:rPr lang="en-US" dirty="0"/>
            </a:br>
            <a:r>
              <a:rPr lang="en-US" sz="2400" dirty="0"/>
              <a:t>Data Analyst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400B59-51D9-A56B-681B-C89C8AFD4C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Turning Data into Insights </a:t>
            </a:r>
            <a:endParaRPr lang="en-IN" dirty="0"/>
          </a:p>
        </p:txBody>
      </p:sp>
      <p:pic>
        <p:nvPicPr>
          <p:cNvPr id="6146" name="Picture 2" descr="GitHub Logos and Usage · GitHub">
            <a:extLst>
              <a:ext uri="{FF2B5EF4-FFF2-40B4-BE49-F238E27FC236}">
                <a16:creationId xmlns:a16="http://schemas.microsoft.com/office/drawing/2014/main" id="{F260234A-C28E-52F8-0F85-C9AC6E121B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700" y="912814"/>
            <a:ext cx="12573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Download Microsoft Excel Logo in SVG ...">
            <a:extLst>
              <a:ext uri="{FF2B5EF4-FFF2-40B4-BE49-F238E27FC236}">
                <a16:creationId xmlns:a16="http://schemas.microsoft.com/office/drawing/2014/main" id="{8DE0A2F9-98B7-2BC1-E1DB-E67DA2F97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7300" y="728663"/>
            <a:ext cx="1576388" cy="1049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F0D148A-9DA4-ED51-BDD5-30EAB1F98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348" y="2838449"/>
            <a:ext cx="1573327" cy="881063"/>
          </a:xfrm>
          <a:prstGeom prst="rect">
            <a:avLst/>
          </a:prstGeom>
        </p:spPr>
      </p:pic>
      <p:pic>
        <p:nvPicPr>
          <p:cNvPr id="6152" name="Picture 8" descr="MySQL logo and symbol, meaning, history, PNG">
            <a:extLst>
              <a:ext uri="{FF2B5EF4-FFF2-40B4-BE49-F238E27FC236}">
                <a16:creationId xmlns:a16="http://schemas.microsoft.com/office/drawing/2014/main" id="{D537B9A8-4329-250A-5586-671E8B4C49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3240" y="5257800"/>
            <a:ext cx="2300573" cy="1438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Amazon Web Services - Wikipedia">
            <a:extLst>
              <a:ext uri="{FF2B5EF4-FFF2-40B4-BE49-F238E27FC236}">
                <a16:creationId xmlns:a16="http://schemas.microsoft.com/office/drawing/2014/main" id="{78E5D116-7E65-C4A6-4425-10D8F8221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956" y="4625974"/>
            <a:ext cx="1462088" cy="972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 descr="Python (programming language) - Wikipedia">
            <a:extLst>
              <a:ext uri="{FF2B5EF4-FFF2-40B4-BE49-F238E27FC236}">
                <a16:creationId xmlns:a16="http://schemas.microsoft.com/office/drawing/2014/main" id="{AE5886E9-B683-61C9-C2FA-8AF449427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2294" y="2895600"/>
            <a:ext cx="829308" cy="829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179D56-1684-D302-727B-37C80DBDE5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080" y="4286883"/>
            <a:ext cx="3015270" cy="1941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955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C3C5A-5AEF-8D1E-0AD9-4A4C6A97C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32253-483E-793D-CCB2-12BE9B70F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1825625"/>
            <a:ext cx="10710333" cy="4541202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M.Sc. Cloud Computing – Newcastle University </a:t>
            </a:r>
          </a:p>
          <a:p>
            <a:pPr lvl="1"/>
            <a:r>
              <a:rPr lang="en-IN" dirty="0"/>
              <a:t>(Thesis: Quantum-Enhanced Secure Communication via One-Time Pad &amp; Key Distribution – Distinction)</a:t>
            </a:r>
          </a:p>
          <a:p>
            <a:pPr marL="457200" lvl="1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B.Tech</a:t>
            </a:r>
            <a:r>
              <a:rPr lang="en-IN" dirty="0"/>
              <a:t> Cloud Technology &amp; Information Security – Ajeenkya D.Y. Patil University </a:t>
            </a:r>
          </a:p>
          <a:p>
            <a:pPr lvl="1"/>
            <a:r>
              <a:rPr lang="en-IN" dirty="0"/>
              <a:t>GPA: 8.7/10</a:t>
            </a:r>
          </a:p>
        </p:txBody>
      </p:sp>
      <p:pic>
        <p:nvPicPr>
          <p:cNvPr id="1027" name="Picture 3" descr="Celebrating the Milestone: A Journey of Growth and Empowerment in Education  - Sharjah Education Academy">
            <a:extLst>
              <a:ext uri="{FF2B5EF4-FFF2-40B4-BE49-F238E27FC236}">
                <a16:creationId xmlns:a16="http://schemas.microsoft.com/office/drawing/2014/main" id="{443E4DF9-18F9-EA58-5B78-9A742A72D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5662" y="4261161"/>
            <a:ext cx="2878138" cy="2025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GraduationMall Graduation Hat for Adult ...">
            <a:extLst>
              <a:ext uri="{FF2B5EF4-FFF2-40B4-BE49-F238E27FC236}">
                <a16:creationId xmlns:a16="http://schemas.microsoft.com/office/drawing/2014/main" id="{4ECB2EF6-72B8-E7F2-B733-D7E0842A07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42" y="1879204"/>
            <a:ext cx="614425" cy="662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Bachelor cap Images - Free Download on ...">
            <a:extLst>
              <a:ext uri="{FF2B5EF4-FFF2-40B4-BE49-F238E27FC236}">
                <a16:creationId xmlns:a16="http://schemas.microsoft.com/office/drawing/2014/main" id="{E65C7B7B-AA39-12FE-3197-C8B76F8D2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29" y="3429000"/>
            <a:ext cx="644296" cy="48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7702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18B2A-F0BE-A222-B0E6-2E8243553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84163"/>
            <a:ext cx="10515600" cy="1325563"/>
          </a:xfrm>
        </p:spPr>
        <p:txBody>
          <a:bodyPr/>
          <a:lstStyle/>
          <a:p>
            <a:r>
              <a:rPr lang="en-US" dirty="0"/>
              <a:t>Professional Journey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512D8-0912-79D3-7377-A4A455DB8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1400"/>
            <a:ext cx="10515600" cy="5626527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9600" b="1" dirty="0"/>
              <a:t>Data Bootcamp – Just IT Ltd, London</a:t>
            </a:r>
            <a:endParaRPr lang="en-US" sz="9600" dirty="0"/>
          </a:p>
          <a:p>
            <a:r>
              <a:rPr lang="en-US" sz="9600" dirty="0"/>
              <a:t>Intensive training in data analysis, SQL, Power BI, and real-world projects</a:t>
            </a:r>
          </a:p>
          <a:p>
            <a:r>
              <a:rPr lang="en-US" sz="9600" dirty="0"/>
              <a:t>Built a strong foundation for transitioning into data-focused roles</a:t>
            </a:r>
          </a:p>
          <a:p>
            <a:pPr marL="0" indent="0">
              <a:buNone/>
            </a:pPr>
            <a:r>
              <a:rPr lang="en-US" sz="9600" b="1" dirty="0"/>
              <a:t>2025 | Education Support &amp; Media</a:t>
            </a:r>
            <a:br>
              <a:rPr lang="en-US" sz="9600" dirty="0"/>
            </a:br>
            <a:r>
              <a:rPr lang="en-US" sz="9600" b="1" dirty="0"/>
              <a:t>Teaching Assistant – Collingwood Media &amp; Arts, Newcastle, UK</a:t>
            </a:r>
            <a:endParaRPr lang="en-US" sz="9600" dirty="0"/>
          </a:p>
          <a:p>
            <a:r>
              <a:rPr lang="en-US" sz="9600" dirty="0"/>
              <a:t>Supported learners in creative and technical subjects</a:t>
            </a:r>
          </a:p>
          <a:p>
            <a:r>
              <a:rPr lang="en-US" sz="9600" dirty="0"/>
              <a:t>Strengthened communication, </a:t>
            </a:r>
            <a:r>
              <a:rPr lang="en-US" sz="9600" dirty="0" err="1"/>
              <a:t>organisation</a:t>
            </a:r>
            <a:r>
              <a:rPr lang="en-US" sz="9600" dirty="0"/>
              <a:t>, and problem-solving skills</a:t>
            </a:r>
          </a:p>
          <a:p>
            <a:pPr marL="0" indent="0">
              <a:buNone/>
            </a:pPr>
            <a:r>
              <a:rPr lang="en-US" sz="9600" b="1" dirty="0"/>
              <a:t>2024 | Academic Support Role</a:t>
            </a:r>
            <a:br>
              <a:rPr lang="en-US" sz="9600" dirty="0"/>
            </a:br>
            <a:r>
              <a:rPr lang="en-US" sz="9600" b="1" dirty="0"/>
              <a:t>Teaching Assistant – Teaching Personnel, Newcastle, UK</a:t>
            </a:r>
            <a:endParaRPr lang="en-US" sz="9600" dirty="0"/>
          </a:p>
          <a:p>
            <a:r>
              <a:rPr lang="en-US" sz="9600" dirty="0"/>
              <a:t>Assisted educators and students in structured learning environments</a:t>
            </a:r>
          </a:p>
          <a:p>
            <a:r>
              <a:rPr lang="en-US" sz="9600" dirty="0"/>
              <a:t>Developed adaptability, teamwork, and stakeholder communication</a:t>
            </a:r>
          </a:p>
          <a:p>
            <a:pPr marL="0" indent="0">
              <a:buNone/>
            </a:pPr>
            <a:r>
              <a:rPr lang="en-US" sz="9600" b="1" dirty="0"/>
              <a:t>2023 | Cloud &amp; Infrastructure Exposure</a:t>
            </a:r>
            <a:br>
              <a:rPr lang="en-US" sz="9600" dirty="0"/>
            </a:br>
            <a:r>
              <a:rPr lang="en-US" sz="9600" b="1" dirty="0"/>
              <a:t>Cloud Engineer (Option 2) – Emanate Agency, Pune, India</a:t>
            </a:r>
            <a:endParaRPr lang="en-US" sz="9600" dirty="0"/>
          </a:p>
          <a:p>
            <a:r>
              <a:rPr lang="en-US" sz="9600" dirty="0"/>
              <a:t>Gained hands-on exposure to cloud concepts and infrastructure</a:t>
            </a:r>
          </a:p>
          <a:p>
            <a:r>
              <a:rPr lang="en-US" sz="9600" dirty="0"/>
              <a:t>Built technical foundations in cloud environments and system operations</a:t>
            </a:r>
          </a:p>
          <a:p>
            <a:pPr marL="0" indent="0">
              <a:buNone/>
            </a:pPr>
            <a:endParaRPr lang="en-US" i="1" dirty="0"/>
          </a:p>
          <a:p>
            <a:endParaRPr lang="en-IN" dirty="0"/>
          </a:p>
        </p:txBody>
      </p:sp>
      <p:pic>
        <p:nvPicPr>
          <p:cNvPr id="4100" name="Picture 4" descr="Career journey Images - Free Download ...">
            <a:extLst>
              <a:ext uri="{FF2B5EF4-FFF2-40B4-BE49-F238E27FC236}">
                <a16:creationId xmlns:a16="http://schemas.microsoft.com/office/drawing/2014/main" id="{0BD6F44C-8BAA-569A-376F-8C82C520F4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4713" y="4327525"/>
            <a:ext cx="2427287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7090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9DECC-53CA-1927-47BE-757DC0823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What I Can Offer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0E87F-3231-8C83-AA7F-B6455AC3A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3721"/>
            <a:ext cx="10515600" cy="4913242"/>
          </a:xfrm>
        </p:spPr>
        <p:txBody>
          <a:bodyPr>
            <a:normAutofit/>
          </a:bodyPr>
          <a:lstStyle/>
          <a:p>
            <a:r>
              <a:rPr lang="en-IN" dirty="0"/>
              <a:t>Analytical problem-solving &amp; insight generation</a:t>
            </a:r>
          </a:p>
          <a:p>
            <a:r>
              <a:rPr lang="en-IN" dirty="0"/>
              <a:t>Data storytelling for stakeholders</a:t>
            </a:r>
          </a:p>
          <a:p>
            <a:r>
              <a:rPr lang="en-IN" dirty="0"/>
              <a:t>Effective communication &amp; collaboration</a:t>
            </a:r>
          </a:p>
          <a:p>
            <a:r>
              <a:rPr lang="en-IN" dirty="0"/>
              <a:t>Adaptability to new technologies and tools</a:t>
            </a:r>
          </a:p>
          <a:p>
            <a:r>
              <a:rPr lang="en-IN" dirty="0"/>
              <a:t>AWS Cloud Practitioner Certificate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2050" name="Picture 2" descr="Bag Gold Royalty-Free Images ...">
            <a:extLst>
              <a:ext uri="{FF2B5EF4-FFF2-40B4-BE49-F238E27FC236}">
                <a16:creationId xmlns:a16="http://schemas.microsoft.com/office/drawing/2014/main" id="{934977EA-C3A6-F580-F836-B5A747480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625" y="4433888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2302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796BE-A4BE-54AE-F604-8A5808809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skills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40F6E03-87C0-6745-A198-011001BE5D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544192"/>
              </p:ext>
            </p:extLst>
          </p:nvPr>
        </p:nvGraphicFramePr>
        <p:xfrm>
          <a:off x="846766" y="1939201"/>
          <a:ext cx="1625600" cy="3658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087641199"/>
                    </a:ext>
                  </a:extLst>
                </a:gridCol>
              </a:tblGrid>
              <a:tr h="7092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Data Analysis &amp; Visualization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638795"/>
                  </a:ext>
                </a:extLst>
              </a:tr>
              <a:tr h="7092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SQL</a:t>
                      </a:r>
                    </a:p>
                    <a:p>
                      <a:endParaRPr lang="en-IN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053826"/>
                  </a:ext>
                </a:extLst>
              </a:tr>
              <a:tr h="410923">
                <a:tc>
                  <a:txBody>
                    <a:bodyPr/>
                    <a:lstStyle/>
                    <a:p>
                      <a:r>
                        <a:rPr lang="en-IN" dirty="0"/>
                        <a:t>Power BI 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4422258"/>
                  </a:ext>
                </a:extLst>
              </a:tr>
              <a:tr h="410923">
                <a:tc>
                  <a:txBody>
                    <a:bodyPr/>
                    <a:lstStyle/>
                    <a:p>
                      <a:r>
                        <a:rPr lang="en-IN" dirty="0"/>
                        <a:t>Tableau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6709029"/>
                  </a:ext>
                </a:extLst>
              </a:tr>
              <a:tr h="7092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Excel</a:t>
                      </a:r>
                    </a:p>
                    <a:p>
                      <a:endParaRPr lang="en-IN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65790"/>
                  </a:ext>
                </a:extLst>
              </a:tr>
              <a:tr h="7092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R Studio</a:t>
                      </a:r>
                    </a:p>
                    <a:p>
                      <a:endParaRPr lang="en-IN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90313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C3A25C3-DB16-A088-0700-7F229ECB08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741385"/>
              </p:ext>
            </p:extLst>
          </p:nvPr>
        </p:nvGraphicFramePr>
        <p:xfrm>
          <a:off x="2599793" y="1909687"/>
          <a:ext cx="1625600" cy="357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69038971"/>
                    </a:ext>
                  </a:extLst>
                </a:gridCol>
              </a:tblGrid>
              <a:tr h="715264">
                <a:tc>
                  <a:txBody>
                    <a:bodyPr/>
                    <a:lstStyle/>
                    <a:p>
                      <a:r>
                        <a:rPr lang="en-IN" dirty="0"/>
                        <a:t>Programming &amp; Scripting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347017"/>
                  </a:ext>
                </a:extLst>
              </a:tr>
              <a:tr h="715264">
                <a:tc>
                  <a:txBody>
                    <a:bodyPr/>
                    <a:lstStyle/>
                    <a:p>
                      <a:r>
                        <a:rPr lang="en-IN" dirty="0"/>
                        <a:t>Python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823889"/>
                  </a:ext>
                </a:extLst>
              </a:tr>
              <a:tr h="715264">
                <a:tc>
                  <a:txBody>
                    <a:bodyPr/>
                    <a:lstStyle/>
                    <a:p>
                      <a:r>
                        <a:rPr lang="en-IN" dirty="0"/>
                        <a:t>R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114318"/>
                  </a:ext>
                </a:extLst>
              </a:tr>
              <a:tr h="715264">
                <a:tc>
                  <a:txBody>
                    <a:bodyPr/>
                    <a:lstStyle/>
                    <a:p>
                      <a:r>
                        <a:rPr lang="en-IN" dirty="0"/>
                        <a:t>Java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307462"/>
                  </a:ext>
                </a:extLst>
              </a:tr>
              <a:tr h="715264">
                <a:tc>
                  <a:txBody>
                    <a:bodyPr/>
                    <a:lstStyle/>
                    <a:p>
                      <a:r>
                        <a:rPr lang="en-IN" dirty="0"/>
                        <a:t>JavaScript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759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EAA46EA-AB0F-634B-A80F-31E3124825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514910"/>
              </p:ext>
            </p:extLst>
          </p:nvPr>
        </p:nvGraphicFramePr>
        <p:xfrm>
          <a:off x="8373449" y="1909686"/>
          <a:ext cx="1859622" cy="4357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622">
                  <a:extLst>
                    <a:ext uri="{9D8B030D-6E8A-4147-A177-3AD203B41FA5}">
                      <a16:colId xmlns:a16="http://schemas.microsoft.com/office/drawing/2014/main" val="503572888"/>
                    </a:ext>
                  </a:extLst>
                </a:gridCol>
              </a:tblGrid>
              <a:tr h="726258">
                <a:tc>
                  <a:txBody>
                    <a:bodyPr/>
                    <a:lstStyle/>
                    <a:p>
                      <a:r>
                        <a:rPr lang="en-IN" dirty="0"/>
                        <a:t>Cloud &amp; DevOps</a:t>
                      </a:r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68685"/>
                  </a:ext>
                </a:extLst>
              </a:tr>
              <a:tr h="726258">
                <a:tc>
                  <a:txBody>
                    <a:bodyPr/>
                    <a:lstStyle/>
                    <a:p>
                      <a:r>
                        <a:rPr lang="en-IN" dirty="0"/>
                        <a:t>AWS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043589"/>
                  </a:ext>
                </a:extLst>
              </a:tr>
              <a:tr h="726258">
                <a:tc>
                  <a:txBody>
                    <a:bodyPr/>
                    <a:lstStyle/>
                    <a:p>
                      <a:r>
                        <a:rPr lang="en-IN" dirty="0"/>
                        <a:t>Azure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991337"/>
                  </a:ext>
                </a:extLst>
              </a:tr>
              <a:tr h="726258">
                <a:tc>
                  <a:txBody>
                    <a:bodyPr/>
                    <a:lstStyle/>
                    <a:p>
                      <a:r>
                        <a:rPr lang="en-IN" dirty="0"/>
                        <a:t>GCP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847698"/>
                  </a:ext>
                </a:extLst>
              </a:tr>
              <a:tr h="726258">
                <a:tc>
                  <a:txBody>
                    <a:bodyPr/>
                    <a:lstStyle/>
                    <a:p>
                      <a:r>
                        <a:rPr lang="en-IN" dirty="0"/>
                        <a:t>Kubernetes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634191"/>
                  </a:ext>
                </a:extLst>
              </a:tr>
              <a:tr h="726258">
                <a:tc>
                  <a:txBody>
                    <a:bodyPr/>
                    <a:lstStyle/>
                    <a:p>
                      <a:r>
                        <a:rPr lang="en-IN" dirty="0"/>
                        <a:t>CI/CD pipelines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54709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BE57D89-CAB5-3B9C-2BB8-71F3064F11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346175"/>
              </p:ext>
            </p:extLst>
          </p:nvPr>
        </p:nvGraphicFramePr>
        <p:xfrm>
          <a:off x="4361386" y="1909687"/>
          <a:ext cx="1880455" cy="34636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0455">
                  <a:extLst>
                    <a:ext uri="{9D8B030D-6E8A-4147-A177-3AD203B41FA5}">
                      <a16:colId xmlns:a16="http://schemas.microsoft.com/office/drawing/2014/main" val="1439204909"/>
                    </a:ext>
                  </a:extLst>
                </a:gridCol>
              </a:tblGrid>
              <a:tr h="715672">
                <a:tc>
                  <a:txBody>
                    <a:bodyPr/>
                    <a:lstStyle/>
                    <a:p>
                      <a:r>
                        <a:rPr lang="en-IN" dirty="0"/>
                        <a:t>Data Governance &amp; Architecture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179895"/>
                  </a:ext>
                </a:extLst>
              </a:tr>
              <a:tr h="658341">
                <a:tc>
                  <a:txBody>
                    <a:bodyPr/>
                    <a:lstStyle/>
                    <a:p>
                      <a:r>
                        <a:rPr lang="en-IN" dirty="0"/>
                        <a:t>Data cleaning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350885"/>
                  </a:ext>
                </a:extLst>
              </a:tr>
              <a:tr h="715672">
                <a:tc>
                  <a:txBody>
                    <a:bodyPr/>
                    <a:lstStyle/>
                    <a:p>
                      <a:r>
                        <a:rPr lang="en-US" dirty="0"/>
                        <a:t>Data </a:t>
                      </a:r>
                      <a:r>
                        <a:rPr lang="en-IN" dirty="0"/>
                        <a:t>transformation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201102"/>
                  </a:ext>
                </a:extLst>
              </a:tr>
              <a:tr h="715672">
                <a:tc>
                  <a:txBody>
                    <a:bodyPr/>
                    <a:lstStyle/>
                    <a:p>
                      <a:r>
                        <a:rPr lang="en-US" dirty="0"/>
                        <a:t>Data </a:t>
                      </a:r>
                      <a:r>
                        <a:rPr lang="en-IN" dirty="0"/>
                        <a:t>summarization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2297976"/>
                  </a:ext>
                </a:extLst>
              </a:tr>
              <a:tr h="658341">
                <a:tc>
                  <a:txBody>
                    <a:bodyPr/>
                    <a:lstStyle/>
                    <a:p>
                      <a:r>
                        <a:rPr lang="en-IN" dirty="0"/>
                        <a:t>Storytelling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25173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90AAD7B-938E-2BE1-A3DF-1EF2C5A96D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787650"/>
              </p:ext>
            </p:extLst>
          </p:nvPr>
        </p:nvGraphicFramePr>
        <p:xfrm>
          <a:off x="6377834" y="1909688"/>
          <a:ext cx="1859622" cy="35763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622">
                  <a:extLst>
                    <a:ext uri="{9D8B030D-6E8A-4147-A177-3AD203B41FA5}">
                      <a16:colId xmlns:a16="http://schemas.microsoft.com/office/drawing/2014/main" val="3896526062"/>
                    </a:ext>
                  </a:extLst>
                </a:gridCol>
              </a:tblGrid>
              <a:tr h="721252">
                <a:tc>
                  <a:txBody>
                    <a:bodyPr/>
                    <a:lstStyle/>
                    <a:p>
                      <a:r>
                        <a:rPr lang="en-IN" dirty="0"/>
                        <a:t>Automation Tools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115718"/>
                  </a:ext>
                </a:extLst>
              </a:tr>
              <a:tr h="700825">
                <a:tc>
                  <a:txBody>
                    <a:bodyPr/>
                    <a:lstStyle/>
                    <a:p>
                      <a:r>
                        <a:rPr lang="en-IN" dirty="0"/>
                        <a:t>N8N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123343"/>
                  </a:ext>
                </a:extLst>
              </a:tr>
              <a:tr h="700825">
                <a:tc>
                  <a:txBody>
                    <a:bodyPr/>
                    <a:lstStyle/>
                    <a:p>
                      <a:r>
                        <a:rPr lang="en-IN" dirty="0"/>
                        <a:t>Relevance AI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610871"/>
                  </a:ext>
                </a:extLst>
              </a:tr>
              <a:tr h="700825">
                <a:tc>
                  <a:txBody>
                    <a:bodyPr/>
                    <a:lstStyle/>
                    <a:p>
                      <a:r>
                        <a:rPr lang="en-IN" dirty="0"/>
                        <a:t>Zapier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5564243"/>
                  </a:ext>
                </a:extLst>
              </a:tr>
              <a:tr h="7525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/>
                        <a:t>VoiceFlow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03753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4302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3F0D3-D1C2-8385-AEA0-685ADA872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 Fact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ABC76-14AE-1AAC-466A-EAA949396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14524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I’m a jack of all trades—I love trying new experiences, exploring technologies, and learning continuously.</a:t>
            </a:r>
          </a:p>
          <a:p>
            <a:pPr marL="0" indent="0" algn="ctr">
              <a:buNone/>
            </a:pPr>
            <a:r>
              <a:rPr lang="en-US" dirty="0"/>
              <a:t>Outside of work, football keeps me disciplined, music sparks my creativity 🎧, and AI fuels my curiosity </a:t>
            </a:r>
            <a:r>
              <a:rPr lang="en-IN" dirty="0"/>
              <a:t>🧠</a:t>
            </a:r>
          </a:p>
        </p:txBody>
      </p:sp>
      <p:pic>
        <p:nvPicPr>
          <p:cNvPr id="7170" name="Picture 2" descr="Fun Fact Vector Art, Icons, and ...">
            <a:extLst>
              <a:ext uri="{FF2B5EF4-FFF2-40B4-BE49-F238E27FC236}">
                <a16:creationId xmlns:a16="http://schemas.microsoft.com/office/drawing/2014/main" id="{B0C4A10F-63CE-51E4-ADCB-5C8E399D3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525" y="3675063"/>
            <a:ext cx="302895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Football isolated on white background ...">
            <a:extLst>
              <a:ext uri="{FF2B5EF4-FFF2-40B4-BE49-F238E27FC236}">
                <a16:creationId xmlns:a16="http://schemas.microsoft.com/office/drawing/2014/main" id="{26D7014F-AF8E-FCC9-E47C-D83279B21A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3800" y="6054613"/>
            <a:ext cx="1289050" cy="80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0" name="Picture 12" descr="Black And White Music Background #957565 | Clipart Library">
            <a:extLst>
              <a:ext uri="{FF2B5EF4-FFF2-40B4-BE49-F238E27FC236}">
                <a16:creationId xmlns:a16="http://schemas.microsoft.com/office/drawing/2014/main" id="{30945FBD-AD36-1686-E5BC-C4673C899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7362" y="5032823"/>
            <a:ext cx="2654300" cy="1529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2" name="Picture 14" descr="Artificial Intelligence Symbol on White ...">
            <a:extLst>
              <a:ext uri="{FF2B5EF4-FFF2-40B4-BE49-F238E27FC236}">
                <a16:creationId xmlns:a16="http://schemas.microsoft.com/office/drawing/2014/main" id="{9368B9DE-9252-4FDE-21A9-C4D84E912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6637" y="4418806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8830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3FACC-1A5A-FC1C-D39C-426E8661A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Projects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B01D1-FD6F-6412-F77B-9E7F15908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575"/>
            <a:ext cx="10515600" cy="465638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Quantum Random Key Generator &amp; Distributor</a:t>
            </a:r>
          </a:p>
          <a:p>
            <a:r>
              <a:rPr lang="en-IN" dirty="0"/>
              <a:t>Developed a </a:t>
            </a:r>
            <a:r>
              <a:rPr lang="en-IN" b="1" dirty="0"/>
              <a:t>quantum-secure communication system</a:t>
            </a:r>
            <a:r>
              <a:rPr lang="en-IN" dirty="0"/>
              <a:t> using </a:t>
            </a:r>
            <a:r>
              <a:rPr lang="en-IN" b="1" dirty="0"/>
              <a:t>AWS </a:t>
            </a:r>
            <a:r>
              <a:rPr lang="en-IN" b="1" dirty="0" err="1"/>
              <a:t>Braket</a:t>
            </a:r>
            <a:r>
              <a:rPr lang="en-IN" dirty="0"/>
              <a:t> and </a:t>
            </a:r>
            <a:r>
              <a:rPr lang="en-IN" b="1" dirty="0"/>
              <a:t>ANUQRNG</a:t>
            </a:r>
            <a:r>
              <a:rPr lang="en-IN" dirty="0"/>
              <a:t>. Implemented </a:t>
            </a:r>
            <a:r>
              <a:rPr lang="en-IN" b="1" dirty="0"/>
              <a:t>One-Time Pad (OTP) encryption</a:t>
            </a:r>
            <a:r>
              <a:rPr lang="en-IN" dirty="0"/>
              <a:t> and </a:t>
            </a:r>
            <a:r>
              <a:rPr lang="en-IN" b="1" dirty="0"/>
              <a:t>BB84 quantum key distribution</a:t>
            </a:r>
            <a:r>
              <a:rPr lang="en-IN" dirty="0"/>
              <a:t> to achieve quantum-resistant security. Demonstrated </a:t>
            </a:r>
            <a:r>
              <a:rPr lang="en-IN" b="1" dirty="0"/>
              <a:t>true random key generation</a:t>
            </a:r>
            <a:r>
              <a:rPr lang="en-IN" dirty="0"/>
              <a:t>, secure encryption/decryption, and </a:t>
            </a:r>
            <a:r>
              <a:rPr lang="en-IN" b="1" dirty="0"/>
              <a:t>eavesdrop detection</a:t>
            </a:r>
            <a:r>
              <a:rPr lang="en-IN" dirty="0"/>
              <a:t>.</a:t>
            </a:r>
          </a:p>
          <a:p>
            <a:r>
              <a:rPr lang="en-IN" b="1" dirty="0"/>
              <a:t>Key Skills:</a:t>
            </a:r>
            <a:r>
              <a:rPr lang="en-IN" dirty="0"/>
              <a:t> Quantum Computing, AWS </a:t>
            </a:r>
            <a:r>
              <a:rPr lang="en-IN" dirty="0" err="1"/>
              <a:t>Braket</a:t>
            </a:r>
            <a:r>
              <a:rPr lang="en-IN" dirty="0"/>
              <a:t>, Cryptography, BB84 Protocol, Secure Communication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C79796-7BDF-B787-6360-3D27CDB4C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4787" y="4609191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392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1FB86-97D0-2389-B6E9-0C321EC1C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8369"/>
            <a:ext cx="10515600" cy="590764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G1OS – Cloud-Based Operating System</a:t>
            </a:r>
          </a:p>
          <a:p>
            <a:r>
              <a:rPr lang="en-US" dirty="0"/>
              <a:t>Built a </a:t>
            </a:r>
            <a:r>
              <a:rPr lang="en-US" b="1" dirty="0"/>
              <a:t>cloud-based operating system</a:t>
            </a:r>
            <a:r>
              <a:rPr lang="en-US" dirty="0"/>
              <a:t> with a </a:t>
            </a:r>
            <a:r>
              <a:rPr lang="en-US" b="1" dirty="0"/>
              <a:t>monolithic kernel and multiprocessing support</a:t>
            </a:r>
            <a:r>
              <a:rPr lang="en-US" dirty="0"/>
              <a:t> to improve performance, scalability, and security. Enabled remote access to desktop environments and files, supporting </a:t>
            </a:r>
            <a:r>
              <a:rPr lang="en-US" b="1" dirty="0"/>
              <a:t>collaboration and productivity</a:t>
            </a:r>
            <a:r>
              <a:rPr lang="en-US" dirty="0"/>
              <a:t>. Deployed and tested the system in a cloud environment.</a:t>
            </a:r>
          </a:p>
          <a:p>
            <a:r>
              <a:rPr lang="en-US" b="1" dirty="0"/>
              <a:t>Key Skills:</a:t>
            </a:r>
            <a:r>
              <a:rPr lang="en-US" dirty="0"/>
              <a:t> Operating System Development, Kernel Programming, Cloud Computing (AWS), Linux Administration, Performance Optimization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Blockchain Application for GDPR Compliance</a:t>
            </a:r>
          </a:p>
          <a:p>
            <a:r>
              <a:rPr lang="en-US" dirty="0"/>
              <a:t>Designed a </a:t>
            </a:r>
            <a:r>
              <a:rPr lang="en-US" b="1" dirty="0"/>
              <a:t>public blockchain network</a:t>
            </a:r>
            <a:r>
              <a:rPr lang="en-US" dirty="0"/>
              <a:t> using the </a:t>
            </a:r>
            <a:r>
              <a:rPr lang="en-US" b="1" dirty="0"/>
              <a:t>Ethereum Virtual Machine (EVM)</a:t>
            </a:r>
            <a:r>
              <a:rPr lang="en-US" dirty="0"/>
              <a:t>. Developed </a:t>
            </a:r>
            <a:r>
              <a:rPr lang="en-US" b="1" dirty="0"/>
              <a:t>smart contracts</a:t>
            </a:r>
            <a:r>
              <a:rPr lang="en-US" dirty="0"/>
              <a:t> to manage data usage consent, agreement processing, and activity logging, with a focus on GDPR compliance. This project strengthened understanding of blockchain architecture and decentralized applications.</a:t>
            </a:r>
          </a:p>
          <a:p>
            <a:r>
              <a:rPr lang="en-US" b="1" dirty="0"/>
              <a:t>Key Skills:</a:t>
            </a:r>
            <a:r>
              <a:rPr lang="en-US" dirty="0"/>
              <a:t> Blockchain Development, Smart Contracts, Ethereum VM, Data Governance, Security &amp; Compliance</a:t>
            </a:r>
          </a:p>
          <a:p>
            <a:endParaRPr lang="en-IN" dirty="0"/>
          </a:p>
        </p:txBody>
      </p:sp>
      <p:pic>
        <p:nvPicPr>
          <p:cNvPr id="8194" name="Picture 2" descr="Home - The Engineering Projects">
            <a:extLst>
              <a:ext uri="{FF2B5EF4-FFF2-40B4-BE49-F238E27FC236}">
                <a16:creationId xmlns:a16="http://schemas.microsoft.com/office/drawing/2014/main" id="{4551FEAF-E59C-D9AE-1257-585AD657A4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6877" y="2082800"/>
            <a:ext cx="2575123" cy="193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710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EFB0F-3E54-8A8E-4B3A-F15A2CD7E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Custromer_Shopping_Behavior_Analysis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C77D2-17C1-D413-338B-0FC602D52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Github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https://github.com/Automate0/Customer_shopping_behavior_Analysis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Conducted data analysis to understand </a:t>
            </a:r>
            <a:r>
              <a:rPr lang="en-US" b="1" dirty="0"/>
              <a:t>customer purchasing patterns and trends</a:t>
            </a:r>
            <a:r>
              <a:rPr lang="en-US" dirty="0"/>
              <a:t>. Explored transactional data to identify insights that support business decision-making and customer behavior understanding.</a:t>
            </a:r>
          </a:p>
          <a:p>
            <a:r>
              <a:rPr lang="en-US" b="1" dirty="0"/>
              <a:t>Key Skills:</a:t>
            </a:r>
            <a:r>
              <a:rPr lang="en-US" dirty="0"/>
              <a:t> Data Analysis, SQL, Data Visualization, Analytical Thinking, Business Insights</a:t>
            </a:r>
          </a:p>
          <a:p>
            <a:endParaRPr lang="en-IN" dirty="0"/>
          </a:p>
        </p:txBody>
      </p:sp>
      <p:pic>
        <p:nvPicPr>
          <p:cNvPr id="9218" name="Picture 2" descr="Computer Icons Analytics Data analysis, symbol, text, logo png | PNGEgg">
            <a:extLst>
              <a:ext uri="{FF2B5EF4-FFF2-40B4-BE49-F238E27FC236}">
                <a16:creationId xmlns:a16="http://schemas.microsoft.com/office/drawing/2014/main" id="{A8821BDF-47A9-F15F-6D7E-3AC112442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9700" y="542032"/>
            <a:ext cx="1708149" cy="971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Analysis Green Logo Transparent">
            <a:extLst>
              <a:ext uri="{FF2B5EF4-FFF2-40B4-BE49-F238E27FC236}">
                <a16:creationId xmlns:a16="http://schemas.microsoft.com/office/drawing/2014/main" id="{98F5690A-73BA-CA21-E6B7-B16E384FC8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7200" y="5373949"/>
            <a:ext cx="1574800" cy="1486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3520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8F612-4921-4F44-D553-AAD0A7E91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81A79-404B-457B-C244-B66AEC1F0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Customers show strong repeat purchase patterns</a:t>
            </a:r>
          </a:p>
          <a:p>
            <a:r>
              <a:rPr lang="en-US" dirty="0"/>
              <a:t>Core customers are mid-career adults who likely have steady income</a:t>
            </a:r>
          </a:p>
          <a:p>
            <a:r>
              <a:rPr lang="en-US" dirty="0"/>
              <a:t>Clothing has the highest purchase volume</a:t>
            </a:r>
          </a:p>
          <a:p>
            <a:r>
              <a:rPr lang="en-US" dirty="0" err="1"/>
              <a:t>Paypal</a:t>
            </a:r>
            <a:r>
              <a:rPr lang="en-US" dirty="0"/>
              <a:t> is most frequently used payment method</a:t>
            </a:r>
          </a:p>
          <a:p>
            <a:r>
              <a:rPr lang="en-US" dirty="0"/>
              <a:t>Average Product Satisfaction: 3.1 stars</a:t>
            </a:r>
          </a:p>
          <a:p>
            <a:endParaRPr lang="en-IN" dirty="0"/>
          </a:p>
        </p:txBody>
      </p:sp>
      <p:sp>
        <p:nvSpPr>
          <p:cNvPr id="4" name="AutoShape 2" descr="Image result for graph">
            <a:extLst>
              <a:ext uri="{FF2B5EF4-FFF2-40B4-BE49-F238E27FC236}">
                <a16:creationId xmlns:a16="http://schemas.microsoft.com/office/drawing/2014/main" id="{DB588C8A-B294-3237-2A05-402E5B9178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4805680" cy="4805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Image result for Graph ClipArt">
            <a:extLst>
              <a:ext uri="{FF2B5EF4-FFF2-40B4-BE49-F238E27FC236}">
                <a16:creationId xmlns:a16="http://schemas.microsoft.com/office/drawing/2014/main" id="{F00642A1-5E83-DC61-6494-F12E37493D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92960" y="3276600"/>
            <a:ext cx="4155440" cy="303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63562C-6798-9892-BEF1-06C3A2E9B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1240" y="3929856"/>
            <a:ext cx="2895600" cy="23145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5591A0-8157-9E98-B1CD-0DED38FF5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25937"/>
            <a:ext cx="2739425" cy="240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379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EF45A-2233-E14F-91BD-6036DD6F2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Plan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208840D-7595-D282-0F41-D907F337F4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7227536"/>
              </p:ext>
            </p:extLst>
          </p:nvPr>
        </p:nvGraphicFramePr>
        <p:xfrm>
          <a:off x="930667" y="2112908"/>
          <a:ext cx="10515599" cy="4379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7831">
                  <a:extLst>
                    <a:ext uri="{9D8B030D-6E8A-4147-A177-3AD203B41FA5}">
                      <a16:colId xmlns:a16="http://schemas.microsoft.com/office/drawing/2014/main" val="3705017407"/>
                    </a:ext>
                  </a:extLst>
                </a:gridCol>
                <a:gridCol w="4283884">
                  <a:extLst>
                    <a:ext uri="{9D8B030D-6E8A-4147-A177-3AD203B41FA5}">
                      <a16:colId xmlns:a16="http://schemas.microsoft.com/office/drawing/2014/main" val="3237207357"/>
                    </a:ext>
                  </a:extLst>
                </a:gridCol>
                <a:gridCol w="4283884">
                  <a:extLst>
                    <a:ext uri="{9D8B030D-6E8A-4147-A177-3AD203B41FA5}">
                      <a16:colId xmlns:a16="http://schemas.microsoft.com/office/drawing/2014/main" val="4116499952"/>
                    </a:ext>
                  </a:extLst>
                </a:gridCol>
              </a:tblGrid>
              <a:tr h="72024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Layer</a:t>
                      </a: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Tool</a:t>
                      </a: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Purpose</a:t>
                      </a: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756779"/>
                  </a:ext>
                </a:extLst>
              </a:tr>
              <a:tr h="720246">
                <a:tc>
                  <a:txBody>
                    <a:bodyPr/>
                    <a:lstStyle/>
                    <a:p>
                      <a:r>
                        <a:rPr lang="en-IN" dirty="0"/>
                        <a:t>Processing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Google </a:t>
                      </a:r>
                      <a:r>
                        <a:rPr lang="en-IN" dirty="0" err="1"/>
                        <a:t>Colab</a:t>
                      </a:r>
                      <a:r>
                        <a:rPr lang="en-IN" dirty="0"/>
                        <a:t> 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Clean &amp; transform data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12524"/>
                  </a:ext>
                </a:extLst>
              </a:tr>
              <a:tr h="720246">
                <a:tc>
                  <a:txBody>
                    <a:bodyPr/>
                    <a:lstStyle/>
                    <a:p>
                      <a:r>
                        <a:rPr lang="en-IN" dirty="0"/>
                        <a:t>Storage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AWS Aurora PostgreSQL 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Persist curated data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461546"/>
                  </a:ext>
                </a:extLst>
              </a:tr>
              <a:tr h="778737">
                <a:tc>
                  <a:txBody>
                    <a:bodyPr/>
                    <a:lstStyle/>
                    <a:p>
                      <a:r>
                        <a:rPr lang="en-IN" dirty="0"/>
                        <a:t>Analysis 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SQL/  pgadmin4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Business logic &amp; Querying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808830"/>
                  </a:ext>
                </a:extLst>
              </a:tr>
              <a:tr h="720246">
                <a:tc>
                  <a:txBody>
                    <a:bodyPr/>
                    <a:lstStyle/>
                    <a:p>
                      <a:r>
                        <a:rPr lang="en-IN" dirty="0"/>
                        <a:t>Visualization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Power BI Desktop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Insight Delivery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74355"/>
                  </a:ext>
                </a:extLst>
              </a:tr>
              <a:tr h="720246">
                <a:tc>
                  <a:txBody>
                    <a:bodyPr/>
                    <a:lstStyle/>
                    <a:p>
                      <a:r>
                        <a:rPr lang="en-IN" dirty="0"/>
                        <a:t>Documentation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GitHub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Creating a repository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0241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1781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7D5AD-D157-5379-9123-123C5261D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D0C2B-BA9B-365C-1876-42B0B7FDE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Prioritise retention-Launch loyalty rewards based on purchase frequency to increase lifetime value (LTV)</a:t>
            </a:r>
          </a:p>
          <a:p>
            <a:r>
              <a:rPr lang="en-IN" dirty="0"/>
              <a:t>Targeted campaigns on platforms like Facebook, email, automation, personalised offers for mid-aged adults</a:t>
            </a:r>
          </a:p>
          <a:p>
            <a:r>
              <a:rPr lang="en-IN" dirty="0"/>
              <a:t>Increase clothing inventory around Winter/Spring</a:t>
            </a:r>
          </a:p>
          <a:p>
            <a:r>
              <a:rPr lang="en-IN" dirty="0"/>
              <a:t>Have </a:t>
            </a:r>
            <a:r>
              <a:rPr lang="en-IN" dirty="0" err="1"/>
              <a:t>Paypal</a:t>
            </a:r>
            <a:r>
              <a:rPr lang="en-IN" dirty="0"/>
              <a:t> Payment flexibility</a:t>
            </a:r>
          </a:p>
          <a:p>
            <a:r>
              <a:rPr lang="en-IN" dirty="0"/>
              <a:t>Collect post-purchase feedback, identify product issues</a:t>
            </a:r>
          </a:p>
        </p:txBody>
      </p:sp>
      <p:pic>
        <p:nvPicPr>
          <p:cNvPr id="1026" name="Picture 2" descr="Special Offers - AA Wristbands">
            <a:extLst>
              <a:ext uri="{FF2B5EF4-FFF2-40B4-BE49-F238E27FC236}">
                <a16:creationId xmlns:a16="http://schemas.microsoft.com/office/drawing/2014/main" id="{2F55A170-3ECE-EC50-8540-E209A97EA7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0600" y="5644736"/>
            <a:ext cx="1911400" cy="1213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urrent Special Offers - Visit Ilfracombe">
            <a:extLst>
              <a:ext uri="{FF2B5EF4-FFF2-40B4-BE49-F238E27FC236}">
                <a16:creationId xmlns:a16="http://schemas.microsoft.com/office/drawing/2014/main" id="{CE0A3EF2-3AEE-EA33-9411-AF23C7F6C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6268" y="230188"/>
            <a:ext cx="1326437" cy="1326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2056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C3F4C-217B-CCBD-E0F4-4FAF35A4C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/>
              <a:t>Data tells a story</a:t>
            </a:r>
          </a:p>
          <a:p>
            <a:pPr marL="0" indent="0" algn="ctr">
              <a:buNone/>
            </a:pPr>
            <a:r>
              <a:rPr lang="en-US" dirty="0"/>
              <a:t>and I am passionate about being the translator turning numbers into insights, and insights into decisions. With a foundation in cloud, automation, and analytics, I am ready to help businesses scale smarter and faster. Let’s connect and explore how we can turn complex data into real-world impact together.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IN" sz="2400" dirty="0" err="1"/>
              <a:t>linkedIn</a:t>
            </a:r>
            <a:r>
              <a:rPr lang="en-IN" sz="2400" dirty="0"/>
              <a:t>: https://www.linkedin.com/in/adan-playil08112001/</a:t>
            </a:r>
          </a:p>
          <a:p>
            <a:pPr marL="0" indent="0" algn="ctr">
              <a:buNone/>
            </a:pPr>
            <a:r>
              <a:rPr lang="en-IN" sz="2400" dirty="0" err="1"/>
              <a:t>Github</a:t>
            </a:r>
            <a:r>
              <a:rPr lang="en-IN" sz="2400" dirty="0"/>
              <a:t>: https://github.com/Automate0</a:t>
            </a:r>
          </a:p>
          <a:p>
            <a:pPr marL="0" indent="0" algn="ctr">
              <a:buNone/>
            </a:pPr>
            <a:r>
              <a:rPr lang="en-IN" sz="2400" dirty="0"/>
              <a:t>Email: adanplayil7@gmail.com</a:t>
            </a:r>
          </a:p>
        </p:txBody>
      </p:sp>
    </p:spTree>
    <p:extLst>
      <p:ext uri="{BB962C8B-B14F-4D97-AF65-F5344CB8AC3E}">
        <p14:creationId xmlns:p14="http://schemas.microsoft.com/office/powerpoint/2010/main" val="2144900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FAQs | Nexgardspectra.co.uk">
            <a:extLst>
              <a:ext uri="{FF2B5EF4-FFF2-40B4-BE49-F238E27FC236}">
                <a16:creationId xmlns:a16="http://schemas.microsoft.com/office/drawing/2014/main" id="{BC373F69-FA6B-3874-DA6C-344449FE4D1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10229" cy="6877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7905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1750</TotalTime>
  <Words>795</Words>
  <Application>Microsoft Office PowerPoint</Application>
  <PresentationFormat>Widescreen</PresentationFormat>
  <Paragraphs>113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Adan Playil  Data Analyst</vt:lpstr>
      <vt:lpstr>Background</vt:lpstr>
      <vt:lpstr>Professional Journey</vt:lpstr>
      <vt:lpstr>What I Can Offer</vt:lpstr>
      <vt:lpstr>Technical skills</vt:lpstr>
      <vt:lpstr>Fun Fact</vt:lpstr>
      <vt:lpstr>Projects  </vt:lpstr>
      <vt:lpstr>PowerPoint Presentation</vt:lpstr>
      <vt:lpstr>Custromer_Shopping_Behavior_Analysis </vt:lpstr>
      <vt:lpstr>Key Insights</vt:lpstr>
      <vt:lpstr>Execution Plan</vt:lpstr>
      <vt:lpstr>Recommendations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adan playil</dc:creator>
  <cp:lastModifiedBy>jordan playil</cp:lastModifiedBy>
  <cp:revision>8</cp:revision>
  <dcterms:created xsi:type="dcterms:W3CDTF">2025-12-15T15:11:33Z</dcterms:created>
  <dcterms:modified xsi:type="dcterms:W3CDTF">2025-12-22T14:02:47Z</dcterms:modified>
</cp:coreProperties>
</file>